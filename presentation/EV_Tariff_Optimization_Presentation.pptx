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Agentic AI-Based Dynamic Tariff Optimization</a:t>
            </a:r>
          </a:p>
          <a:p>
            <a:pPr>
              <a:spcAft>
                <a:spcPts val="3000"/>
              </a:spcAft>
              <a:defRPr sz="2200">
                <a:solidFill>
                  <a:srgbClr val="06B6D4"/>
                </a:solidFill>
                <a:latin typeface="Arial"/>
              </a:defRPr>
            </a:pPr>
            <a:r>
              <a:t>for EV Charging Networks using Large-Scale Session Data</a:t>
            </a:r>
          </a:p>
          <a:p>
            <a:pPr>
              <a:defRPr sz="1100" b="1">
                <a:solidFill>
                  <a:srgbClr val="C8CDD5"/>
                </a:solidFill>
                <a:latin typeface="Arial"/>
              </a:defRPr>
            </a:pPr>
            <a:r>
              <a:t>SOCIETY OF BUSINESS  ·  OPEN PROJECT 2026  · 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OP'26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 Landscape &amp; Preprocessing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ACN-Data (Caltech/JPL): </a:t>
            </a:r>
            <a:r>
              <a:rPr b="0" sz="1300">
                <a:solidFill>
                  <a:srgbClr val="C8CDD5"/>
                </a:solidFill>
                <a:latin typeface="Arial"/>
              </a:rPr>
              <a:t>14,947 completed charging sessions spanning April to December 2018. Contains connection/disconnect timestamps, energy delivered (kWh), and unique charger IDs.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UrbanEV (Shenzhen): </a:t>
            </a:r>
            <a:r>
              <a:rPr b="0" sz="1300">
                <a:solidFill>
                  <a:srgbClr val="C8CDD5"/>
                </a:solidFill>
                <a:latin typeface="Arial"/>
              </a:rPr>
              <a:t>Large-scale urban grid telemetry covering 247 zones, 1,706 stations, and 22,872 chargers over a 30-day window (8,640 5-min intervals) in June-July 2022.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Feature Engineering: </a:t>
            </a:r>
            <a:r>
              <a:rPr b="0" sz="1300">
                <a:solidFill>
                  <a:srgbClr val="C8CDD5"/>
                </a:solidFill>
                <a:latin typeface="Arial"/>
              </a:rPr>
              <a:t>Derived Charger Utilization Rate (charging vs. plugged hours), revenue per session, spatial occupancy density, and hourly station congestion queue proxies.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Assumptions &amp; Cleansing: </a:t>
            </a:r>
            <a:r>
              <a:rPr b="0" sz="1300">
                <a:solidFill>
                  <a:srgbClr val="C8CDD5"/>
                </a:solidFill>
                <a:latin typeface="Arial"/>
              </a:rPr>
              <a:t>Normalised all timestamps to UTC. Dropped sessions with missing connection times. Filtered out erroneous sessions longer than 48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1A1D29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Summary Statistics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ACN Dataset Range:  </a:t>
            </a:r>
            <a:r>
              <a:rPr b="1">
                <a:solidFill>
                  <a:srgbClr val="06B6D4"/>
                </a:solidFill>
                <a:latin typeface="Arial"/>
              </a:rPr>
              <a:t>2018-04-25  to  2018-12-16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ACN Average Energy Delivered:  </a:t>
            </a:r>
            <a:r>
              <a:rPr b="1">
                <a:solidFill>
                  <a:srgbClr val="06B6D4"/>
                </a:solidFill>
                <a:latin typeface="Arial"/>
              </a:rPr>
              <a:t>9.00 kWh / session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ACN Average Session Duration:  </a:t>
            </a:r>
            <a:r>
              <a:rPr b="1">
                <a:solidFill>
                  <a:srgbClr val="06B6D4"/>
                </a:solidFill>
                <a:latin typeface="Arial"/>
              </a:rPr>
              <a:t>5.68 hours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UrbanEV Monitored Grids:  </a:t>
            </a:r>
            <a:r>
              <a:rPr b="1">
                <a:solidFill>
                  <a:srgbClr val="06B6D4"/>
                </a:solidFill>
                <a:latin typeface="Arial"/>
              </a:rPr>
              <a:t>247 Grid Zones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UrbanEV Total Stations/Chargers:  </a:t>
            </a:r>
            <a:r>
              <a:rPr b="1">
                <a:solidFill>
                  <a:srgbClr val="06B6D4"/>
                </a:solidFill>
                <a:latin typeface="Arial"/>
              </a:rPr>
              <a:t>1,706 Stations / 22,872 Piles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UrbanEV Average Occupancy Rate:  </a:t>
            </a:r>
            <a:r>
              <a:rPr b="1">
                <a:solidFill>
                  <a:srgbClr val="06B6D4"/>
                </a:solidFill>
                <a:latin typeface="Arial"/>
              </a:rPr>
              <a:t>28.02% across 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OP'26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EDA Findings &amp; Demand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Hourly Intraday Volatility: </a:t>
            </a:r>
            <a:r>
              <a:rPr b="0" sz="1300">
                <a:solidFill>
                  <a:srgbClr val="C8CDD5"/>
                </a:solidFill>
                <a:latin typeface="Arial"/>
              </a:rPr>
              <a:t>Strong peaks identified in morning (8-10 AM) and evening (5-7 PM) rush hours, creating significant grid congestion.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Weekday Workplace Spikes: </a:t>
            </a:r>
            <a:r>
              <a:rPr b="0" sz="1300">
                <a:solidFill>
                  <a:srgbClr val="C8CDD5"/>
                </a:solidFill>
                <a:latin typeface="Arial"/>
              </a:rPr>
              <a:t>Workplace charging (ACN Caltech/JPL) shows massive weekday spikes with low weekend usage, whereas public Shenzhen grids present steadier weekend volumes.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Idle Time Inefficiencies: </a:t>
            </a:r>
            <a:r>
              <a:rPr b="0" sz="1300">
                <a:solidFill>
                  <a:srgbClr val="C8CDD5"/>
                </a:solidFill>
                <a:latin typeface="Arial"/>
              </a:rPr>
              <a:t>Vehicles remain connected idle for an average of 2.48 hours post-charging, locking up charger supply and grid capability.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Price-Demand Sensitivity: </a:t>
            </a:r>
            <a:r>
              <a:rPr b="0" sz="1300">
                <a:solidFill>
                  <a:srgbClr val="C8CDD5"/>
                </a:solidFill>
                <a:latin typeface="Arial"/>
              </a:rPr>
              <a:t>Spatial analysis shows strong clustering of high occupancy rates in Central Business District (CBD) grids, which are less price-sensitive compared to outer suburbs.</a:t>
            </a:r>
          </a:p>
        </p:txBody>
      </p:sp>
      <p:pic>
        <p:nvPicPr>
          <p:cNvPr id="6" name="Picture 5" descr="14_combined_demand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3476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OP'26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Demand Prediction Modeling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Model Architectures: </a:t>
            </a:r>
            <a:r>
              <a:rPr b="0" sz="1300">
                <a:solidFill>
                  <a:srgbClr val="C8CDD5"/>
                </a:solidFill>
                <a:latin typeface="Arial"/>
              </a:rPr>
              <a:t>Trained Random Forest Regressors and XGBoost Regressors using temporal, lagged, and rolling average demand features.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UrbanEV Occupancy Forecast: </a:t>
            </a:r>
            <a:r>
              <a:rPr b="0" sz="1300">
                <a:solidFill>
                  <a:srgbClr val="C8CDD5"/>
                </a:solidFill>
                <a:latin typeface="Arial"/>
              </a:rPr>
              <a:t>Achieved excellent performance on Shenzhen grid prediction. The best model was UEV_XGB (XGBoost) with an R² score of 0.9978 and RMSE of 0.0073.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ACN Utilization Forecast: </a:t>
            </a:r>
            <a:r>
              <a:rPr b="0" sz="1300">
                <a:solidFill>
                  <a:srgbClr val="C8CDD5"/>
                </a:solidFill>
                <a:latin typeface="Arial"/>
              </a:rPr>
              <a:t>Session-level workplace utilization prediction achieved an RMSE of 0.3283 using Random Forest (ACN_RF), which outperformed XGBoost.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Feature Contribution: </a:t>
            </a:r>
            <a:r>
              <a:rPr b="0" sz="1300">
                <a:solidFill>
                  <a:srgbClr val="C8CDD5"/>
                </a:solidFill>
                <a:latin typeface="Arial"/>
              </a:rPr>
              <a:t>Lagged demand features, hour-of-day encodings, and queue length proxies were the strongest predictors of future utilization.</a:t>
            </a:r>
          </a:p>
        </p:txBody>
      </p:sp>
      <p:pic>
        <p:nvPicPr>
          <p:cNvPr id="6" name="Picture 5" descr="19_demand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17565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OP'26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Dynamic Tariff Optimization Logic &amp;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Dynamic Rule Engine: </a:t>
            </a:r>
            <a:r>
              <a:rPr b="0" sz="1300">
                <a:solidFill>
                  <a:srgbClr val="C8CDD5"/>
                </a:solidFill>
                <a:latin typeface="Arial"/>
              </a:rPr>
              <a:t>Dynamic tariff multipliers adjust prices between 0.60x and 1.80x of a fixed baseline (₹15/kWh) based on predicted station utilization.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Surge &amp; Discount Triggers: </a:t>
            </a:r>
            <a:r>
              <a:rPr b="0" sz="1300">
                <a:solidFill>
                  <a:srgbClr val="C8CDD5"/>
                </a:solidFill>
                <a:latin typeface="Arial"/>
              </a:rPr>
              <a:t>Surge pricing activates when utilization &gt; 80% (up to ₹27/kWh). Discount pricing triggers when utilization &lt; 30% (down to ₹9/kWh).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Revenue Improvements: </a:t>
            </a:r>
            <a:r>
              <a:rPr b="0" sz="1300">
                <a:solidFill>
                  <a:srgbClr val="C8CDD5"/>
                </a:solidFill>
                <a:latin typeface="Arial"/>
              </a:rPr>
              <a:t>Dynamic tariff recommendations resulted in a +4.51% revenue gain compared to the flat ₹15/kWh baseline.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Peak Demand Flattening: </a:t>
            </a:r>
            <a:r>
              <a:rPr b="0" sz="1300">
                <a:solidFill>
                  <a:srgbClr val="C8CDD5"/>
                </a:solidFill>
                <a:latin typeface="Arial"/>
              </a:rPr>
              <a:t>Elasticity simulations (elasticity = -0.30) show a redistribution of peak demand, driving utilization down into off-peak windows.</a:t>
            </a:r>
          </a:p>
        </p:txBody>
      </p:sp>
      <p:pic>
        <p:nvPicPr>
          <p:cNvPr id="6" name="Picture 5" descr="20_tariff_hourl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23936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OP'26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Monitoring Agent &amp; Feedback Loop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Self-Improving Feedback Loop: </a:t>
            </a:r>
            <a:r>
              <a:rPr b="0" sz="1300">
                <a:solidFill>
                  <a:srgbClr val="C8CDD5"/>
                </a:solidFill>
                <a:latin typeface="Arial"/>
              </a:rPr>
              <a:t>Runs 10 training episodes, allowing the system to update surge pricing bonuses and discount depths based on observed demand response.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KPI Trajectory Tracking: </a:t>
            </a:r>
            <a:r>
              <a:rPr b="0" sz="1300">
                <a:solidFill>
                  <a:srgbClr val="C8CDD5"/>
                </a:solidFill>
                <a:latin typeface="Arial"/>
              </a:rPr>
              <a:t>Tracks simulated revenue, average utilization, wait-time reductions, and pricing efficiency across learning cycles.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Pricing Efficiency Score: </a:t>
            </a:r>
            <a:r>
              <a:rPr b="0" sz="1300">
                <a:solidFill>
                  <a:srgbClr val="C8CDD5"/>
                </a:solidFill>
                <a:latin typeface="Arial"/>
              </a:rPr>
              <a:t>Revenue generated per unit energy delivered (₹/kWh) improves from 15.00 baseline to 16.25/kWh as parameters co-adapt.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Stability Convergence: </a:t>
            </a:r>
            <a:r>
              <a:rPr b="0" sz="1300">
                <a:solidFill>
                  <a:srgbClr val="C8CDD5"/>
                </a:solidFill>
                <a:latin typeface="Arial"/>
              </a:rPr>
              <a:t>The agent successfully balances load to avoid wait-time spikes (keeping average wait-time proxy at 0.0 minutes) while driving revenue growth.</a:t>
            </a:r>
          </a:p>
        </p:txBody>
      </p:sp>
      <p:pic>
        <p:nvPicPr>
          <p:cNvPr id="6" name="Picture 5" descr="29_feedback_loo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3987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OP'26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Business, Operational, and Policy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Grid Stability &amp; Peak Shaving: </a:t>
            </a:r>
            <a:r>
              <a:rPr b="0" sz="1300">
                <a:solidFill>
                  <a:srgbClr val="C8CDD5"/>
                </a:solidFill>
                <a:latin typeface="Arial"/>
              </a:rPr>
              <a:t>Dynamic tariffs disincentivize charging during peak grid hours. This reduces thermal load on local distribution transformers, avoiding grid failures.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Revenue and Asset Maximization: </a:t>
            </a:r>
            <a:r>
              <a:rPr b="0" sz="1300">
                <a:solidFill>
                  <a:srgbClr val="C8CDD5"/>
                </a:solidFill>
                <a:latin typeface="Arial"/>
              </a:rPr>
              <a:t>Captures consumer surplus during high-demand peak slots in CBD zones while discount incentives increase utilization of suburban assets during shoulder/off-peak windows.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Policy Recommendations: </a:t>
            </a:r>
            <a:r>
              <a:rPr b="0" sz="1300">
                <a:solidFill>
                  <a:srgbClr val="C8CDD5"/>
                </a:solidFill>
                <a:latin typeface="Arial"/>
              </a:rPr>
              <a:t>Suggests standardizing dynamic time-of-use pricing models in national EV policies. Encourages regulators to support flexible public charging tariffs.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Customer Experience Optimization: </a:t>
            </a:r>
            <a:r>
              <a:rPr b="0" sz="1300">
                <a:solidFill>
                  <a:srgbClr val="C8CDD5"/>
                </a:solidFill>
                <a:latin typeface="Arial"/>
              </a:rPr>
              <a:t>Encourages a transition from static charging to structured schedules, helping users select off-peak, discounted slots to lower fleet operational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1A1D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Operational Insights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Simulated Revenue Uplift:  </a:t>
            </a:r>
            <a:r>
              <a:rPr b="1">
                <a:solidFill>
                  <a:srgbClr val="06B6D4"/>
                </a:solidFill>
                <a:latin typeface="Arial"/>
              </a:rPr>
              <a:t>+4.51% (₹2.10M vs ₹2.01M)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Pricing Efficiency Improvement:  </a:t>
            </a:r>
            <a:r>
              <a:rPr b="1">
                <a:solidFill>
                  <a:srgbClr val="06B6D4"/>
                </a:solidFill>
                <a:latin typeface="Arial"/>
              </a:rPr>
              <a:t>+8.33% (₹16.25 vs ₹15.00 per kWh)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Congestion Wait-Time Proxy:  </a:t>
            </a:r>
            <a:r>
              <a:rPr b="1">
                <a:solidFill>
                  <a:srgbClr val="06B6D4"/>
                </a:solidFill>
                <a:latin typeface="Arial"/>
              </a:rPr>
              <a:t>Stabilised at 0.0 minutes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Elasticity Demand Sensitivity:  </a:t>
            </a:r>
            <a:r>
              <a:rPr b="1">
                <a:solidFill>
                  <a:srgbClr val="06B6D4"/>
                </a:solidFill>
                <a:latin typeface="Arial"/>
              </a:rPr>
              <a:t>Modelled at a robust epsilon = -0.30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Optimal Surge Util Threshold:  </a:t>
            </a:r>
            <a:r>
              <a:rPr b="1">
                <a:solidFill>
                  <a:srgbClr val="06B6D4"/>
                </a:solidFill>
                <a:latin typeface="Arial"/>
              </a:rPr>
              <a:t>Utilization &gt; 80% (1.3x - 1.8x price)</a:t>
            </a:r>
          </a:p>
          <a:p>
            <a:pPr>
              <a:spcAft>
                <a:spcPts val="1200"/>
              </a:spcAft>
              <a:defRPr sz="1400">
                <a:solidFill>
                  <a:srgbClr val="C8CDD5"/>
                </a:solidFill>
                <a:latin typeface="Arial"/>
              </a:defRPr>
            </a:pPr>
            <a:r>
              <a:t>Optimal Discount Util Threshold:  </a:t>
            </a:r>
            <a:r>
              <a:rPr b="1">
                <a:solidFill>
                  <a:srgbClr val="06B6D4"/>
                </a:solidFill>
                <a:latin typeface="Arial"/>
              </a:rPr>
              <a:t>Utilization &lt; 30% (0.6x - 0.85x price)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OP'26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Appendix: Assumptions, 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Model Limitations: </a:t>
            </a:r>
            <a:r>
              <a:rPr b="0" sz="1300">
                <a:solidFill>
                  <a:srgbClr val="C8CDD5"/>
                </a:solidFill>
                <a:latin typeface="Arial"/>
              </a:rPr>
              <a:t>Assumes a constant linear demand elasticity (epsilon = -0.30). Real-world customer price elasticity is highly non-linear and varies based on location (CBD vs. suburbs) and driver type (fleet/taxi vs. public).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Cross-Dataset Context: </a:t>
            </a:r>
            <a:r>
              <a:rPr b="0" sz="1300">
                <a:solidFill>
                  <a:srgbClr val="C8CDD5"/>
                </a:solidFill>
                <a:latin typeface="Arial"/>
              </a:rPr>
              <a:t>ACN-Data represents corporate campus settings (US-based, long connection durations, slow chargers), while UrbanEV is high-density urban public charging (Shenzhen-based). Insights are cross-applied with documented caution.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Simulated Monitoring Loop: </a:t>
            </a:r>
            <a:r>
              <a:rPr b="0" sz="1300">
                <a:solidFill>
                  <a:srgbClr val="C8CDD5"/>
                </a:solidFill>
                <a:latin typeface="Arial"/>
              </a:rPr>
              <a:t>Operational feedback loop runs on a simulated environment. Live deployments require real-time system integration with chargers and billing systems.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•  Future Work: </a:t>
            </a:r>
            <a:r>
              <a:rPr b="0" sz="1300">
                <a:solidFill>
                  <a:srgbClr val="C8CDD5"/>
                </a:solidFill>
                <a:latin typeface="Arial"/>
              </a:rPr>
              <a:t>Integrate weather data, real-time grid electricity pricing, and user-profile features. Develop multi-agent reinforcement learning models with continuous state 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